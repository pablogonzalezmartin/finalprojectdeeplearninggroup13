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246120"/>
            <a:ext cx="11686032" cy="6400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51560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 Light"/>
              </a:rPr>
              <a:t>Deep Learning for
Time Series Forecasting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0" i="1">
                <a:solidFill>
                  <a:srgbClr val="2980B9"/>
                </a:solidFill>
                <a:latin typeface="Calibri Light"/>
              </a:rPr>
              <a:t>ETTh1 — Electricity Transformer Temperature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058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>
                <a:solidFill>
                  <a:srgbClr val="ECF0F1"/>
                </a:solidFill>
                <a:latin typeface="Calibri Light"/>
              </a:rPr>
              <a:t>Ayaa Asoba  ·  Pablo González Martín  ·  Xavier Bruneau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26280"/>
            <a:ext cx="100584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556573"/>
                </a:solidFill>
                <a:latin typeface="Calibri Light"/>
              </a:rPr>
              <a:t>Group 13  |  STAN 47  |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99AABB"/>
                </a:solidFill>
                <a:latin typeface="Calibri"/>
              </a:rPr>
              <a:t>Group 13 · STAN 47 · Deep Learning Final Project · March 2026    2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88720"/>
            <a:ext cx="566928" cy="65836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566928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 Ligh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243584"/>
            <a:ext cx="53035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2C3E50"/>
                </a:solidFill>
                <a:latin typeface="Calibri Light"/>
              </a:rPr>
              <a:t>Problem Statement &amp; 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536192"/>
            <a:ext cx="5303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556573"/>
                </a:solidFill>
                <a:latin typeface="Calibri Light"/>
              </a:rPr>
              <a:t>What are we forecasting and why?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176272"/>
            <a:ext cx="566928" cy="65836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176272"/>
            <a:ext cx="566928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 Light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231136"/>
            <a:ext cx="53035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2C3E50"/>
                </a:solidFill>
                <a:latin typeface="Calibri Light"/>
              </a:rPr>
              <a:t>Exploratory Data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523744"/>
            <a:ext cx="5303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556573"/>
                </a:solidFill>
                <a:latin typeface="Calibri Light"/>
              </a:rPr>
              <a:t>Understanding the ETTh1 time series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163824"/>
            <a:ext cx="566928" cy="65836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163824"/>
            <a:ext cx="566928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 Light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218688"/>
            <a:ext cx="53035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2C3E50"/>
                </a:solidFill>
                <a:latin typeface="Calibri Light"/>
              </a:rPr>
              <a:t>Three Deep Learning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511296"/>
            <a:ext cx="5303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556573"/>
                </a:solidFill>
                <a:latin typeface="Calibri Light"/>
              </a:rPr>
              <a:t>LSTM · Transformer · TCN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4151376"/>
            <a:ext cx="566928" cy="65836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4151376"/>
            <a:ext cx="566928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 Light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206240"/>
            <a:ext cx="53035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2C3E50"/>
                </a:solidFill>
                <a:latin typeface="Calibri Light"/>
              </a:rPr>
              <a:t>Results &amp; Model Comparison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98848"/>
            <a:ext cx="5303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556573"/>
                </a:solidFill>
                <a:latin typeface="Calibri Light"/>
              </a:rPr>
              <a:t>Metrics, training curves, forecast plots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5138928"/>
            <a:ext cx="566928" cy="658368"/>
          </a:xfrm>
          <a:prstGeom prst="rect">
            <a:avLst/>
          </a:prstGeom>
          <a:solidFill>
            <a:srgbClr val="556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5138928"/>
            <a:ext cx="566928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 Light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193792"/>
            <a:ext cx="53035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2C3E50"/>
                </a:solidFill>
                <a:latin typeface="Calibri Light"/>
              </a:rPr>
              <a:t>Conclusions &amp; Future 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486400"/>
            <a:ext cx="5303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556573"/>
                </a:solidFill>
                <a:latin typeface="Calibri Light"/>
              </a:rPr>
              <a:t>Key takeaways and 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1188720"/>
            <a:ext cx="5029200" cy="50292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0" y="1280160"/>
            <a:ext cx="4663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2C3E50"/>
                </a:solidFill>
                <a:latin typeface="Calibri Light"/>
              </a:rPr>
              <a:t>Speaking time guide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1737360"/>
            <a:ext cx="45720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 Light"/>
              </a:rPr>
              <a:t>Problem &amp; Dataset   ~3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2487168"/>
            <a:ext cx="45720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 Light"/>
              </a:rPr>
              <a:t>EDA                           ~2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3236976"/>
            <a:ext cx="45720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 Light"/>
              </a:rPr>
              <a:t>Model architectures ~8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0" y="3986784"/>
            <a:ext cx="45720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 Light"/>
              </a:rPr>
              <a:t>Results &amp; comparison ~4 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4736592"/>
            <a:ext cx="45720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 Light"/>
              </a:rPr>
              <a:t>Conclusions              ~3 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13385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>
                <a:solidFill>
                  <a:srgbClr val="D0E8F5"/>
                </a:solidFill>
                <a:latin typeface="Calibri"/>
              </a:rPr>
              <a:t>Forecasting transformer oil temperature (OT)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99AABB"/>
                </a:solidFill>
                <a:latin typeface="Calibri"/>
              </a:rPr>
              <a:t>Group 13 · STAN 47 · Deep Learning Final Project · March 2026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70432"/>
            <a:ext cx="5303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2C3E50"/>
                </a:solidFill>
                <a:latin typeface="Calibri Light"/>
              </a:rPr>
              <a:t>Real-world context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581912"/>
            <a:ext cx="11365992" cy="1097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64208"/>
            <a:ext cx="512064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556573"/>
                </a:solidFill>
                <a:latin typeface="Calibri Light"/>
              </a:rPr>
              <a:t>Power grids rely on transformer stations to
step voltages up/down between transmission
and distribution networks.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44368"/>
            <a:ext cx="512064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556573"/>
                </a:solidFill>
                <a:latin typeface="Calibri Light"/>
              </a:rPr>
              <a:t>Oil temperature (OT) is the primary health
indicator — overheating causes insulation
degradation and transformer failures.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224528"/>
            <a:ext cx="512064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556573"/>
                </a:solidFill>
                <a:latin typeface="Calibri Light"/>
              </a:rPr>
              <a:t>Accurate 1-step-ahead OT forecasting enables
preventive maintenance and load-scheduling
decisions before critical thresholds are reached.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170432"/>
            <a:ext cx="5669280" cy="51206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280160"/>
            <a:ext cx="5303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 i="0">
                <a:solidFill>
                  <a:srgbClr val="F39C12"/>
                </a:solidFill>
                <a:latin typeface="Calibri Light"/>
              </a:rPr>
              <a:t>Forecasting task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1737360"/>
            <a:ext cx="11365992" cy="1097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874519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 Light"/>
              </a:rPr>
              <a:t>Dataset:      ETTh1 (2016 – 2018, 17 420 h)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532887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 Light"/>
              </a:rPr>
              <a:t>Target:         Oil Temperature  (OT, °C)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191255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 Light"/>
              </a:rPr>
              <a:t>Horizon:       1-step-ahead  (next hour)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849623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 Light"/>
              </a:rPr>
              <a:t>Input window:  48 hours of OT history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507991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 Light"/>
              </a:rPr>
              <a:t>Split:              80% train  |  20% 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5166359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 Light"/>
              </a:rPr>
              <a:t>Metric:          RMSE · MAE · R²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5806440"/>
            <a:ext cx="53035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1">
                <a:solidFill>
                  <a:srgbClr val="2980B9"/>
                </a:solidFill>
                <a:latin typeface="Calibri Light"/>
              </a:rPr>
              <a:t>Three architectures compared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6108192"/>
            <a:ext cx="5303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ECF0F1"/>
                </a:solidFill>
                <a:latin typeface="Calibri Light"/>
              </a:rPr>
              <a:t>Bidirectional LSTM  ·  Transformer  ·  TCN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Dataset: ETTh1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13385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>
                <a:solidFill>
                  <a:srgbClr val="D0E8F5"/>
                </a:solidFill>
                <a:latin typeface="Calibri"/>
              </a:rPr>
              <a:t>Electricity Transformer Temperature — hourly, 2016–2018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99AABB"/>
                </a:solidFill>
                <a:latin typeface="Calibri"/>
              </a:rPr>
              <a:t>Group 13 · STAN 47 · Deep Learning Final Project · March 2026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70432"/>
            <a:ext cx="56692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2C3E50"/>
                </a:solidFill>
                <a:latin typeface="Calibri Light"/>
              </a:rPr>
              <a:t>Feature columns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572768"/>
          <a:ext cx="5394960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005840"/>
                <a:gridCol w="324612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Column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E50"/>
                          </a:solidFill>
                          <a:latin typeface="Calibri"/>
                        </a:rPr>
                        <a:t>HUFL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E50"/>
                          </a:solidFill>
                          <a:latin typeface="Calibri"/>
                        </a:rPr>
                        <a:t>Load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E50"/>
                          </a:solidFill>
                          <a:latin typeface="Calibri"/>
                        </a:rPr>
                        <a:t>High useful load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E50"/>
                          </a:solidFill>
                          <a:latin typeface="Calibri"/>
                        </a:rPr>
                        <a:t>HULL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E50"/>
                          </a:solidFill>
                          <a:latin typeface="Calibri"/>
                        </a:rPr>
                        <a:t>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E50"/>
                          </a:solidFill>
                          <a:latin typeface="Calibri"/>
                        </a:rPr>
                        <a:t>High useless 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E50"/>
                          </a:solidFill>
                          <a:latin typeface="Calibri"/>
                        </a:rPr>
                        <a:t>MUFL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E50"/>
                          </a:solidFill>
                          <a:latin typeface="Calibri"/>
                        </a:rPr>
                        <a:t>Load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E50"/>
                          </a:solidFill>
                          <a:latin typeface="Calibri"/>
                        </a:rPr>
                        <a:t>Middle useful load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E50"/>
                          </a:solidFill>
                          <a:latin typeface="Calibri"/>
                        </a:rPr>
                        <a:t>MULL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E50"/>
                          </a:solidFill>
                          <a:latin typeface="Calibri"/>
                        </a:rPr>
                        <a:t>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E50"/>
                          </a:solidFill>
                          <a:latin typeface="Calibri"/>
                        </a:rPr>
                        <a:t>Middle useless 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E50"/>
                          </a:solidFill>
                          <a:latin typeface="Calibri"/>
                        </a:rPr>
                        <a:t>LUFL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E50"/>
                          </a:solidFill>
                          <a:latin typeface="Calibri"/>
                        </a:rPr>
                        <a:t>Load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E50"/>
                          </a:solidFill>
                          <a:latin typeface="Calibri"/>
                        </a:rPr>
                        <a:t>Low useful load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E50"/>
                          </a:solidFill>
                          <a:latin typeface="Calibri"/>
                        </a:rPr>
                        <a:t>LULL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E50"/>
                          </a:solidFill>
                          <a:latin typeface="Calibri"/>
                        </a:rPr>
                        <a:t>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E50"/>
                          </a:solidFill>
                          <a:latin typeface="Calibri"/>
                        </a:rPr>
                        <a:t>Low useless 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Calibri"/>
                        </a:rPr>
                        <a:t>OT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Calibri"/>
                        </a:rPr>
                        <a:t>Target ★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Calibri"/>
                        </a:rPr>
                        <a:t>Oil Temperature (°C)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080760" y="1170432"/>
            <a:ext cx="5715000" cy="51206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280160"/>
            <a:ext cx="5349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 i="0">
                <a:solidFill>
                  <a:srgbClr val="F39C12"/>
                </a:solidFill>
                <a:latin typeface="Calibri Light"/>
              </a:rPr>
              <a:t>Key statistics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737360"/>
            <a:ext cx="11365992" cy="1097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883664"/>
            <a:ext cx="29260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ECF0F1"/>
                </a:solidFill>
                <a:latin typeface="Calibri Light"/>
              </a:rPr>
              <a:t>Sampling frequency: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1883664"/>
            <a:ext cx="23774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980B9"/>
                </a:solidFill>
                <a:latin typeface="Calibri Light"/>
              </a:rPr>
              <a:t>1 hour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523744"/>
            <a:ext cx="29260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ECF0F1"/>
                </a:solidFill>
                <a:latin typeface="Calibri Light"/>
              </a:rPr>
              <a:t>Total observations: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523744"/>
            <a:ext cx="23774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980B9"/>
                </a:solidFill>
                <a:latin typeface="Calibri Light"/>
              </a:rPr>
              <a:t>17 420 rows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3163824"/>
            <a:ext cx="29260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ECF0F1"/>
                </a:solidFill>
                <a:latin typeface="Calibri Light"/>
              </a:rPr>
              <a:t>Date range: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3163824"/>
            <a:ext cx="23774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980B9"/>
                </a:solidFill>
                <a:latin typeface="Calibri Light"/>
              </a:rPr>
              <a:t>Jul 2016 – Jul 2018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803904"/>
            <a:ext cx="29260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ECF0F1"/>
                </a:solidFill>
                <a:latin typeface="Calibri Light"/>
              </a:rPr>
              <a:t>Train / Test split: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3803904"/>
            <a:ext cx="23774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980B9"/>
                </a:solidFill>
                <a:latin typeface="Calibri Light"/>
              </a:rPr>
              <a:t>13 936 / 3 484 samples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443984"/>
            <a:ext cx="29260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ECF0F1"/>
                </a:solidFill>
                <a:latin typeface="Calibri Light"/>
              </a:rPr>
              <a:t>Lookback window: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4443984"/>
            <a:ext cx="23774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980B9"/>
                </a:solidFill>
                <a:latin typeface="Calibri Light"/>
              </a:rPr>
              <a:t>48 hours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5084064"/>
            <a:ext cx="29260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ECF0F1"/>
                </a:solidFill>
                <a:latin typeface="Calibri Light"/>
              </a:rPr>
              <a:t>OT range (min→max):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5084064"/>
            <a:ext cx="23774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980B9"/>
                </a:solidFill>
                <a:latin typeface="Calibri Light"/>
              </a:rPr>
              <a:t>≈ 0 °C  →  ≈ 75 °C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5724144"/>
            <a:ext cx="29260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ECF0F1"/>
                </a:solidFill>
                <a:latin typeface="Calibri Light"/>
              </a:rPr>
              <a:t>Daily seasonality: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5724144"/>
            <a:ext cx="23774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980B9"/>
                </a:solidFill>
                <a:latin typeface="Calibri Light"/>
              </a:rPr>
              <a:t>Period = 24 h (confirmed)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13385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>
                <a:solidFill>
                  <a:srgbClr val="D0E8F5"/>
                </a:solidFill>
                <a:latin typeface="Calibri"/>
              </a:rPr>
              <a:t>Daily averages · Predictor correlations · Seasonal decomposition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99AABB"/>
                </a:solidFill>
                <a:latin typeface="Calibri"/>
              </a:rPr>
              <a:t>Group 13 · STAN 47 · Deep Learning Final Project · March 2026    5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70432"/>
            <a:ext cx="3749039" cy="50292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170432"/>
            <a:ext cx="3749039" cy="42062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1225296"/>
            <a:ext cx="352958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 Light"/>
              </a:rPr>
              <a:t>Daily OT series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347472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 Light"/>
              </a:rPr>
              <a:t>▸  Clear annual seasonality: OT peaks in summer (~70 °C), troughs in winter (~5–10 °C).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08960"/>
            <a:ext cx="347472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 Light"/>
              </a:rPr>
              <a:t>▸  Intra-day cycles overlaid on top of the annual trend.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26280"/>
            <a:ext cx="347472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 Light"/>
              </a:rPr>
              <a:t>▸  The series is stationary in variance — additive decomposition is appropriate.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170432"/>
            <a:ext cx="3749039" cy="50292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170432"/>
            <a:ext cx="3749039" cy="42062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3128" y="1225296"/>
            <a:ext cx="352958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 Light"/>
              </a:rPr>
              <a:t>Multi-variate predictors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1691640"/>
            <a:ext cx="347472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 Light"/>
              </a:rPr>
              <a:t>▸  All 6 load features (HUFL, HULL, MUFL, MULL, LUFL, LULL) co-vary with OT.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108960"/>
            <a:ext cx="347472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 Light"/>
              </a:rPr>
              <a:t>▸  High- and middle-useful loads show the strongest positive correlation with temperature.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526280"/>
            <a:ext cx="347472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 Light"/>
              </a:rPr>
              <a:t>▸  Useless loads exhibit noisier, weaker relationships.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20" y="1170432"/>
            <a:ext cx="3749039" cy="50292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75320" y="1170432"/>
            <a:ext cx="3749039" cy="42062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8" y="1225296"/>
            <a:ext cx="352958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 Light"/>
              </a:rPr>
              <a:t>Decomposition (period = 24 h)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1691640"/>
            <a:ext cx="347472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 Light"/>
              </a:rPr>
              <a:t>▸  Trend component: slow drift over weeks/months, no deterministic step changes.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108960"/>
            <a:ext cx="347472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 Light"/>
              </a:rPr>
              <a:t>▸  Seasonal component: sharp 24-hour cycle repeating with high regularity.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526280"/>
            <a:ext cx="347472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 Light"/>
              </a:rPr>
              <a:t>▸  Residual: mostly white noise — models capture the structured part.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Data Preprocessing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99AABB"/>
                </a:solidFill>
                <a:latin typeface="Calibri"/>
              </a:rPr>
              <a:t>Group 13 · STAN 47 · Deep Learning Final Project · March 2026    6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600200"/>
            <a:ext cx="2148840" cy="43891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24712" y="1472184"/>
            <a:ext cx="530352" cy="530352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1472184"/>
            <a:ext cx="530352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 Light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1719072"/>
            <a:ext cx="2002536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 Light"/>
              </a:rPr>
              <a:t>1. Load &amp; clean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231136"/>
            <a:ext cx="1929384" cy="3566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 Light"/>
              </a:rPr>
              <a:t>Read ETTh1.csv
Set DatetimeIndex
asfreq('h') to enforce
hourly regularity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96312" y="3246120"/>
            <a:ext cx="201168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 i="0">
                <a:solidFill>
                  <a:srgbClr val="2C3E50"/>
                </a:solidFill>
                <a:latin typeface="Calibri Light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70048" y="1600200"/>
            <a:ext cx="2148840" cy="43891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4720" y="1472184"/>
            <a:ext cx="530352" cy="530352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472184"/>
            <a:ext cx="530352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 Light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1719072"/>
            <a:ext cx="2002536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 Light"/>
              </a:rPr>
              <a:t>2. Normalize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79776" y="2231136"/>
            <a:ext cx="1929384" cy="3566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 Light"/>
              </a:rPr>
              <a:t>MinMaxScaler → [0, 1]
Fit on train split only
(no leakage from test)
Transform both sets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246120"/>
            <a:ext cx="201168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 i="0">
                <a:solidFill>
                  <a:srgbClr val="2C3E50"/>
                </a:solidFill>
                <a:latin typeface="Calibri Light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0056" y="1600200"/>
            <a:ext cx="2148840" cy="43891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24728" y="1472184"/>
            <a:ext cx="530352" cy="530352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24728" y="1472184"/>
            <a:ext cx="530352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 Ligh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3208" y="1719072"/>
            <a:ext cx="2002536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 Light"/>
              </a:rPr>
              <a:t>3. Sliding window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2231136"/>
            <a:ext cx="1929384" cy="3566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 Light"/>
              </a:rPr>
              <a:t>Lookback = 48 h
For each step i ≥ 48:
  X[i] = OT[i-48 : i]
  y[i] = OT[i]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96328" y="3246120"/>
            <a:ext cx="201168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 i="0">
                <a:solidFill>
                  <a:srgbClr val="2C3E50"/>
                </a:solidFill>
                <a:latin typeface="Calibri Light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0064" y="1600200"/>
            <a:ext cx="2148840" cy="43891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74736" y="1472184"/>
            <a:ext cx="530352" cy="530352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74736" y="1472184"/>
            <a:ext cx="530352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 Light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3216" y="1719072"/>
            <a:ext cx="2002536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 Light"/>
              </a:rPr>
              <a:t>4. Train / Test split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9792" y="2231136"/>
            <a:ext cx="1929384" cy="3566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 Light"/>
              </a:rPr>
              <a:t>Chronological 80/20
13 936 train samples
 3 484 test samples
No shuffling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46336" y="3246120"/>
            <a:ext cx="201168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 i="0">
                <a:solidFill>
                  <a:srgbClr val="2C3E50"/>
                </a:solidFill>
                <a:latin typeface="Calibri Light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20072" y="1600200"/>
            <a:ext cx="2148840" cy="4389120"/>
          </a:xfrm>
          <a:prstGeom prst="rect">
            <a:avLst/>
          </a:prstGeom>
          <a:solidFill>
            <a:srgbClr val="556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524744" y="1472184"/>
            <a:ext cx="530352" cy="530352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24744" y="1472184"/>
            <a:ext cx="530352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 Light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93224" y="1719072"/>
            <a:ext cx="2002536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 Light"/>
              </a:rPr>
              <a:t>5. Reshape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9800" y="2231136"/>
            <a:ext cx="1929384" cy="3566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 Light"/>
              </a:rPr>
              <a:t>Reshape X to
[samples, 48, 1]
for all three
model inputs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Model A: Bidirectional LSTM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13385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>
                <a:solidFill>
                  <a:srgbClr val="D0E8F5"/>
                </a:solidFill>
                <a:latin typeface="Calibri"/>
              </a:rPr>
              <a:t>Architecture &amp; design rationale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99AABB"/>
                </a:solidFill>
                <a:latin typeface="Calibri"/>
              </a:rPr>
              <a:t>Group 13 · STAN 47 · Deep Learning Final Project · March 2026    7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88720"/>
            <a:ext cx="5394960" cy="47548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88720"/>
            <a:ext cx="53949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0" i="0">
                <a:solidFill>
                  <a:srgbClr val="2C3E50"/>
                </a:solidFill>
                <a:latin typeface="Calibri Light"/>
              </a:rPr>
              <a:t>Input  [48 × 1]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64208"/>
            <a:ext cx="5394960" cy="1554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2C3E50"/>
                </a:solidFill>
                <a:latin typeface="Calibri Light"/>
              </a:rPr>
              <a:t>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773936"/>
            <a:ext cx="5394960" cy="47548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773936"/>
            <a:ext cx="53949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 Light"/>
              </a:rPr>
              <a:t>Bidirectional LSTM  (128 units, return_seq=True)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249424"/>
            <a:ext cx="5394960" cy="1554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2C3E50"/>
                </a:solidFill>
                <a:latin typeface="Calibri Light"/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359152"/>
            <a:ext cx="5394960" cy="475488"/>
          </a:xfrm>
          <a:prstGeom prst="rect">
            <a:avLst/>
          </a:prstGeom>
          <a:solidFill>
            <a:srgbClr val="556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359152"/>
            <a:ext cx="53949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 Light"/>
              </a:rPr>
              <a:t>Dropout  (0.20)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834640"/>
            <a:ext cx="5394960" cy="1554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2C3E50"/>
                </a:solidFill>
                <a:latin typeface="Calibri Light"/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944368"/>
            <a:ext cx="5394960" cy="47548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944368"/>
            <a:ext cx="53949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 Light"/>
              </a:rPr>
              <a:t>Bidirectional LSTM  (64 units, return_seq=False)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3419856"/>
            <a:ext cx="5394960" cy="1554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2C3E50"/>
                </a:solidFill>
                <a:latin typeface="Calibri Light"/>
              </a:rPr>
              <a:t>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529584"/>
            <a:ext cx="5394960" cy="475488"/>
          </a:xfrm>
          <a:prstGeom prst="rect">
            <a:avLst/>
          </a:prstGeom>
          <a:solidFill>
            <a:srgbClr val="556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529584"/>
            <a:ext cx="53949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 Light"/>
              </a:rPr>
              <a:t>Dropout  (0.20)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005072"/>
            <a:ext cx="5394960" cy="1554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2C3E50"/>
                </a:solidFill>
                <a:latin typeface="Calibri Light"/>
              </a:rP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114800"/>
            <a:ext cx="5394960" cy="47548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4114800"/>
            <a:ext cx="53949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 Light"/>
              </a:rPr>
              <a:t>Dense  (32, ReLU)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4590288"/>
            <a:ext cx="5394960" cy="1554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2C3E50"/>
                </a:solidFill>
                <a:latin typeface="Calibri Light"/>
              </a:rPr>
              <a:t>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700016"/>
            <a:ext cx="5394960" cy="475488"/>
          </a:xfrm>
          <a:prstGeom prst="rect">
            <a:avLst/>
          </a:prstGeom>
          <a:solidFill>
            <a:srgbClr val="556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700016"/>
            <a:ext cx="53949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 Light"/>
              </a:rPr>
              <a:t>Dropout  (0.10)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5175504"/>
            <a:ext cx="5394960" cy="1554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2C3E50"/>
                </a:solidFill>
                <a:latin typeface="Calibri Light"/>
              </a:rPr>
              <a:t>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5285232"/>
            <a:ext cx="5394960" cy="4754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5285232"/>
            <a:ext cx="53949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 Light"/>
              </a:rPr>
              <a:t>Dense  (1)  — forecast output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80760" y="1170432"/>
            <a:ext cx="5715000" cy="51206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1261872"/>
            <a:ext cx="5349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 i="0">
                <a:solidFill>
                  <a:srgbClr val="F39C12"/>
                </a:solidFill>
                <a:latin typeface="Calibri Light"/>
              </a:rPr>
              <a:t>Why Bidirectional LSTM?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1719072"/>
            <a:ext cx="534924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 Light"/>
              </a:rPr>
              <a:t>▸  Bidirectionality lets each LSTM cell read
the 48-step window both forward AND
backward, doubling temporal context.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2834640"/>
            <a:ext cx="534924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 Light"/>
              </a:rPr>
              <a:t>▸  Gating mechanism (input, forget, output)
prevents the vanishing-gradient problem
for short-to-medium horizons.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3950208"/>
            <a:ext cx="534924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 Light"/>
              </a:rPr>
              <a:t>▸  Stacking 128 → 64 units creates a
hierarchy of temporal features, from
fine-grained to abstract patterns.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5065776"/>
            <a:ext cx="534924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 Light"/>
              </a:rPr>
              <a:t>▸  Callbacks: EarlyStopping (patience 8)
+ ReduceLROnPlateau (patience 4, ×0.5)
prevent overfitting automatically.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5943600"/>
            <a:ext cx="5349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1">
                <a:solidFill>
                  <a:srgbClr val="2980B9"/>
                </a:solidFill>
                <a:latin typeface="Calibri Light"/>
              </a:rPr>
              <a:t>Trainable parameters: ~263 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Model A — LSTM: Training &amp;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99AABB"/>
                </a:solidFill>
                <a:latin typeface="Calibri"/>
              </a:rPr>
              <a:t>Group 13 · STAN 47 · Deep Learning Final Project · March 2026    8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3246120" cy="1874519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170432"/>
            <a:ext cx="3246120" cy="38404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70432"/>
            <a:ext cx="32461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 Light"/>
              </a:rPr>
              <a:t>Test RMSE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27632"/>
            <a:ext cx="3246120" cy="7132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2980B9"/>
                </a:solidFill>
                <a:latin typeface="Calibri Light"/>
              </a:rPr>
              <a:t>— °C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377440"/>
            <a:ext cx="3246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556573"/>
                </a:solidFill>
                <a:latin typeface="Calibri Light"/>
              </a:rPr>
              <a:t>Root mean squared error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58768" y="1170432"/>
            <a:ext cx="3246120" cy="1874519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58768" y="1170432"/>
            <a:ext cx="3246120" cy="38404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58768" y="1170432"/>
            <a:ext cx="32461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 Light"/>
              </a:rPr>
              <a:t>Test MAE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58768" y="1627632"/>
            <a:ext cx="3246120" cy="7132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2980B9"/>
                </a:solidFill>
                <a:latin typeface="Calibri Light"/>
              </a:rPr>
              <a:t>— °C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8768" y="2377440"/>
            <a:ext cx="3246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556573"/>
                </a:solidFill>
                <a:latin typeface="Calibri Light"/>
              </a:rPr>
              <a:t>Mean absolute error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06056" y="1170432"/>
            <a:ext cx="3246120" cy="1874519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06056" y="1170432"/>
            <a:ext cx="3246120" cy="38404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06056" y="1170432"/>
            <a:ext cx="32461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 Light"/>
              </a:rPr>
              <a:t>Test R²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06056" y="1627632"/>
            <a:ext cx="3246120" cy="7132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2980B9"/>
                </a:solidFill>
                <a:latin typeface="Calibri Light"/>
              </a:rP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06056" y="2377440"/>
            <a:ext cx="3246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556573"/>
                </a:solidFill>
                <a:latin typeface="Calibri Light"/>
              </a:rPr>
              <a:t>Coefficient of determination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127248"/>
            <a:ext cx="11365992" cy="318211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218688"/>
            <a:ext cx="109728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2C3E50"/>
                </a:solidFill>
                <a:latin typeface="Calibri Light"/>
              </a:rPr>
              <a:t>Training behaviour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611880"/>
            <a:ext cx="11365992" cy="1097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730752"/>
            <a:ext cx="111556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 Light"/>
              </a:rPr>
              <a:t>▸  Converged steadily over ~20–30 epochs; EarlyStopping typically fires around epoch 25–35.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89120"/>
            <a:ext cx="111556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 Light"/>
              </a:rPr>
              <a:t>▸  Val loss tracks train loss closely — low overfitting risk thanks to Dropout layers.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047488"/>
            <a:ext cx="111556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 Light"/>
              </a:rPr>
              <a:t>▸  Training is slowest of the three: sequential LSTM unrolling limits GPU parallelism.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705856"/>
            <a:ext cx="111556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 Light"/>
              </a:rPr>
              <a:t>▸  Bidirectionality provides a noticeable boost over unidirectional LSTM baselines.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Model B: Transformer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13385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>
                <a:solidFill>
                  <a:srgbClr val="D0E8F5"/>
                </a:solidFill>
                <a:latin typeface="Calibri"/>
              </a:rPr>
              <a:t>Multi-head self-attention encoder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99AABB"/>
                </a:solidFill>
                <a:latin typeface="Calibri"/>
              </a:rPr>
              <a:t>Group 13 · STAN 47 · Deep Learning Final Project · March 2026    9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70432"/>
            <a:ext cx="5394960" cy="38404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70432"/>
            <a:ext cx="539496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2C3E50"/>
                </a:solidFill>
                <a:latin typeface="Calibri Light"/>
              </a:rPr>
              <a:t>Input  [48 × 1]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645920"/>
            <a:ext cx="5394960" cy="402336"/>
          </a:xfrm>
          <a:prstGeom prst="rect">
            <a:avLst/>
          </a:prstGeom>
          <a:solidFill>
            <a:srgbClr val="556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645920"/>
            <a:ext cx="539496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 Light"/>
              </a:rPr>
              <a:t>Dense  (1 → 64)  — project to d_model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139696"/>
            <a:ext cx="5394960" cy="1207008"/>
          </a:xfrm>
          <a:prstGeom prst="rect">
            <a:avLst/>
          </a:prstGeom>
          <a:solidFill>
            <a:srgbClr val="1A609A"/>
          </a:solidFill>
          <a:ln w="16459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176272"/>
            <a:ext cx="52120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F39C12"/>
                </a:solidFill>
                <a:latin typeface="Calibri Light"/>
              </a:rPr>
              <a:t>Encoder Block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432304"/>
            <a:ext cx="5120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 Light"/>
              </a:rPr>
              <a:t>LayerNorm  →  MultiHeadAttention (4 heads, key_dim=64, drop=0.1)  →  Add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52928"/>
            <a:ext cx="5120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 Light"/>
              </a:rPr>
              <a:t>LayerNorm  →  FFN (Dense 256 ReLU  →  Dense 64)  →  Add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438144"/>
            <a:ext cx="5394960" cy="1207008"/>
          </a:xfrm>
          <a:prstGeom prst="rect">
            <a:avLst/>
          </a:prstGeom>
          <a:solidFill>
            <a:srgbClr val="1A609A"/>
          </a:solidFill>
          <a:ln w="16459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474720"/>
            <a:ext cx="52120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F39C12"/>
                </a:solidFill>
                <a:latin typeface="Calibri Light"/>
              </a:rPr>
              <a:t>Encoder Block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730752"/>
            <a:ext cx="5120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 Light"/>
              </a:rPr>
              <a:t>LayerNorm  →  MultiHeadAttention (4 heads, key_dim=64, drop=0.1)  →  Add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151376"/>
            <a:ext cx="5120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 Light"/>
              </a:rPr>
              <a:t>LayerNorm  →  FFN (Dense 256 ReLU  →  Dense 64)  →  Add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736592"/>
            <a:ext cx="5394960" cy="1207008"/>
          </a:xfrm>
          <a:prstGeom prst="rect">
            <a:avLst/>
          </a:prstGeom>
          <a:solidFill>
            <a:srgbClr val="1A609A"/>
          </a:solidFill>
          <a:ln w="16459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773168"/>
            <a:ext cx="52120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F39C12"/>
                </a:solidFill>
                <a:latin typeface="Calibri Light"/>
              </a:rPr>
              <a:t>Encoder Block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029200"/>
            <a:ext cx="5120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 Light"/>
              </a:rPr>
              <a:t>LayerNorm  →  MultiHeadAttention (4 heads, key_dim=64, drop=0.1)  →  Add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449824"/>
            <a:ext cx="5120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 Light"/>
              </a:rPr>
              <a:t>LayerNorm  →  FFN (Dense 256 ReLU  →  Dense 64)  →  Add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6035040"/>
            <a:ext cx="5394960" cy="402336"/>
          </a:xfrm>
          <a:prstGeom prst="rect">
            <a:avLst/>
          </a:prstGeom>
          <a:solidFill>
            <a:srgbClr val="556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035040"/>
            <a:ext cx="539496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 Light"/>
              </a:rPr>
              <a:t>LayerNorm  →  GlobalAveragePooling1D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6528816"/>
            <a:ext cx="5394960" cy="40233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6528816"/>
            <a:ext cx="539496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 Light"/>
              </a:rPr>
              <a:t>Dense (32, ReLU)  →  Dropout (0.1)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7022592"/>
            <a:ext cx="5394960" cy="40233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7022592"/>
            <a:ext cx="539496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 Light"/>
              </a:rPr>
              <a:t>Dense (1)  — forecast output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60" y="1170432"/>
            <a:ext cx="5715000" cy="51206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1261872"/>
            <a:ext cx="5349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 i="0">
                <a:solidFill>
                  <a:srgbClr val="F39C12"/>
                </a:solidFill>
                <a:latin typeface="Calibri Light"/>
              </a:rPr>
              <a:t>Why Transformer?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1719072"/>
            <a:ext cx="534924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 Light"/>
              </a:rPr>
              <a:t>▸  Self-attention scores each of the 48 input
timesteps against every other step in one
operation — no sequential bottleneck.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2834640"/>
            <a:ext cx="534924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 Light"/>
              </a:rPr>
              <a:t>▸  Pre-norm design (LayerNorm before attention)
gives more stable gradients than post-norm,
especially with small batch sizes.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3950208"/>
            <a:ext cx="534924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 Light"/>
              </a:rPr>
              <a:t>▸  4 attention heads learn orthogonal dependency
patterns simultaneously (e.g. same-hour-yesterday
vs. recent trend).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5065776"/>
            <a:ext cx="534924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 Light"/>
              </a:rPr>
              <a:t>▸  GlobalAveragePooling aggregates all 48
timestep representations into a single
context vector before the prediction head.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5943600"/>
            <a:ext cx="5349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1">
                <a:solidFill>
                  <a:srgbClr val="E74C3C"/>
                </a:solidFill>
                <a:latin typeface="Calibri Light"/>
              </a:rPr>
              <a:t>Trainable parameters: ~185 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Model B — Transformer: Training &amp;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99AABB"/>
                </a:solidFill>
                <a:latin typeface="Calibri"/>
              </a:rPr>
              <a:t>Group 13 · STAN 47 · Deep Learning Final Project · March 2026   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3246120" cy="1874519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170432"/>
            <a:ext cx="3246120" cy="38404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70432"/>
            <a:ext cx="32461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 Light"/>
              </a:rPr>
              <a:t>Test RMSE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27632"/>
            <a:ext cx="3246120" cy="7132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E74C3C"/>
                </a:solidFill>
                <a:latin typeface="Calibri Light"/>
              </a:rPr>
              <a:t>— °C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377440"/>
            <a:ext cx="3246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556573"/>
                </a:solidFill>
                <a:latin typeface="Calibri Light"/>
              </a:rPr>
              <a:t>Root mean squared error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58768" y="1170432"/>
            <a:ext cx="3246120" cy="1874519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58768" y="1170432"/>
            <a:ext cx="3246120" cy="38404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58768" y="1170432"/>
            <a:ext cx="32461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 Light"/>
              </a:rPr>
              <a:t>Test MAE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58768" y="1627632"/>
            <a:ext cx="3246120" cy="7132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E74C3C"/>
                </a:solidFill>
                <a:latin typeface="Calibri Light"/>
              </a:rPr>
              <a:t>— °C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8768" y="2377440"/>
            <a:ext cx="3246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556573"/>
                </a:solidFill>
                <a:latin typeface="Calibri Light"/>
              </a:rPr>
              <a:t>Mean absolute error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06056" y="1170432"/>
            <a:ext cx="3246120" cy="1874519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06056" y="1170432"/>
            <a:ext cx="3246120" cy="38404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06056" y="1170432"/>
            <a:ext cx="32461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 Light"/>
              </a:rPr>
              <a:t>Test R²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06056" y="1627632"/>
            <a:ext cx="3246120" cy="7132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E74C3C"/>
                </a:solidFill>
                <a:latin typeface="Calibri Light"/>
              </a:rP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06056" y="2377440"/>
            <a:ext cx="3246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556573"/>
                </a:solidFill>
                <a:latin typeface="Calibri Light"/>
              </a:rPr>
              <a:t>Coefficient of determination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127248"/>
            <a:ext cx="11365992" cy="318211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218688"/>
            <a:ext cx="109728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2C3E50"/>
                </a:solidFill>
                <a:latin typeface="Calibri Light"/>
              </a:rPr>
              <a:t>Training behaviour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611880"/>
            <a:ext cx="11365992" cy="1097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730752"/>
            <a:ext cx="111556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 Light"/>
              </a:rPr>
              <a:t>▸  Convergence is faster than LSTM — often completes in ~15–25 epochs.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89120"/>
            <a:ext cx="111556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 Light"/>
              </a:rPr>
              <a:t>▸  Val loss curves can be slightly more oscillatory due to the self-attention dynamics.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047488"/>
            <a:ext cx="111556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 Light"/>
              </a:rPr>
              <a:t>▸  Multi-head attention (4 heads) learns diverse dependency patterns over the 48-step window.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705856"/>
            <a:ext cx="111556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 Light"/>
              </a:rPr>
              <a:t>▸  GlobalAveragePooling gives a richer context vector than taking only the last timestep.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Model C: Temporal Convolutional Network (TCN)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13385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>
                <a:solidFill>
                  <a:srgbClr val="D0E8F5"/>
                </a:solidFill>
                <a:latin typeface="Calibri"/>
              </a:rPr>
              <a:t>Causal dilated convolutions with residual connections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99AABB"/>
                </a:solidFill>
                <a:latin typeface="Calibri"/>
              </a:rPr>
              <a:t>Group 13 · STAN 47 · Deep Learning Final Project · March 2026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70432"/>
            <a:ext cx="53949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2C3E50"/>
                </a:solidFill>
                <a:latin typeface="Calibri Light"/>
              </a:rPr>
              <a:t>Residual block stack (kernel = 3)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572768"/>
            <a:ext cx="5394960" cy="694944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27632"/>
            <a:ext cx="5212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C3E50"/>
                </a:solidFill>
                <a:latin typeface="Calibri Light"/>
              </a:rPr>
              <a:t>Block 1 — dilation=1   RF =  3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38528"/>
            <a:ext cx="5212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 Light"/>
              </a:rPr>
              <a:t>Conv1D(causal) × 2  →  LayerNorm  →  ReLU  →  Dropout  +  skip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340864"/>
            <a:ext cx="5394960" cy="69494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395728"/>
            <a:ext cx="5212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C3E50"/>
                </a:solidFill>
                <a:latin typeface="Calibri Light"/>
              </a:rPr>
              <a:t>Block 2 — dilation=2   RF =  7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706624"/>
            <a:ext cx="5212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 Light"/>
              </a:rPr>
              <a:t>Conv1D(causal) × 2  →  LayerNorm  →  ReLU  →  Dropout  +  skip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108960"/>
            <a:ext cx="5394960" cy="694944"/>
          </a:xfrm>
          <a:prstGeom prst="rect">
            <a:avLst/>
          </a:prstGeom>
          <a:solidFill>
            <a:srgbClr val="52B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163824"/>
            <a:ext cx="5212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C3E50"/>
                </a:solidFill>
                <a:latin typeface="Calibri Light"/>
              </a:rPr>
              <a:t>Block 3 — dilation=4   RF = 15 steps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474720"/>
            <a:ext cx="5212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 Light"/>
              </a:rPr>
              <a:t>Conv1D(causal) × 2  →  LayerNorm  →  ReLU  →  Dropout  +  skip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877056"/>
            <a:ext cx="5394960" cy="694944"/>
          </a:xfrm>
          <a:prstGeom prst="rect">
            <a:avLst/>
          </a:prstGeom>
          <a:solidFill>
            <a:srgbClr val="7DC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931920"/>
            <a:ext cx="5212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C3E50"/>
                </a:solidFill>
                <a:latin typeface="Calibri Light"/>
              </a:rPr>
              <a:t>Block 4 — dilation=8   RF = 31 steps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242816"/>
            <a:ext cx="5212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 Light"/>
              </a:rPr>
              <a:t>Conv1D(causal) × 2  →  LayerNorm  →  ReLU  →  Dropout  +  skip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645152"/>
            <a:ext cx="5394960" cy="694944"/>
          </a:xfrm>
          <a:prstGeom prst="rect">
            <a:avLst/>
          </a:prstGeom>
          <a:solidFill>
            <a:srgbClr val="A9D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700016"/>
            <a:ext cx="5212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C3E50"/>
                </a:solidFill>
                <a:latin typeface="Calibri Light"/>
              </a:rPr>
              <a:t>Block 5 — dilation=16  RF = 63 steps 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010912"/>
            <a:ext cx="5212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 Light"/>
              </a:rPr>
              <a:t>Conv1D(causal) × 2  →  LayerNorm  →  ReLU  →  Dropout  +  skip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5413248"/>
            <a:ext cx="53949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C3E50"/>
                </a:solidFill>
                <a:latin typeface="Calibri Light"/>
              </a:rPr>
              <a:t>→  Lambda(last_step)  →  Dense(32) ReLU  →  Dropout  →  Dense(1)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0760" y="1170432"/>
            <a:ext cx="5715000" cy="51206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1261872"/>
            <a:ext cx="5349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 i="0">
                <a:solidFill>
                  <a:srgbClr val="F39C12"/>
                </a:solidFill>
                <a:latin typeface="Calibri Light"/>
              </a:rPr>
              <a:t>Why TCN?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1719072"/>
            <a:ext cx="5349240" cy="804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 Light"/>
              </a:rPr>
              <a:t>▸  Causal padding ensures the model only
sees past inputs — zero future information
leakage by design.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2633472"/>
            <a:ext cx="5349240" cy="804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 Light"/>
              </a:rPr>
              <a:t>▸  Dilation doubles each block: [1,2,4,8,16]
→ receptive field of 62 steps, covering
the full 48-step window with margin.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3547872"/>
            <a:ext cx="5349240" cy="804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 Light"/>
              </a:rPr>
              <a:t>▸  Fully-parallel convolutions across all
timesteps — each epoch is faster than
an equivalent sequential LSTM.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4462272"/>
            <a:ext cx="5349240" cy="804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 Light"/>
              </a:rPr>
              <a:t>▸  Residual (skip) connections carry gradients
directly to early layers, eliminating the
vanishing-gradient problem entirely.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5376672"/>
            <a:ext cx="5349240" cy="804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 Light"/>
              </a:rPr>
              <a:t>▸  Stable gradient flow enables deeper
stacking without degradation — unlike
pure RNN architectures.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5943600"/>
            <a:ext cx="5349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1">
                <a:solidFill>
                  <a:srgbClr val="27AE60"/>
                </a:solidFill>
                <a:latin typeface="Calibri Light"/>
              </a:rPr>
              <a:t>Trainable parameters: ~148 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Model C — TCN: Training &amp;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99AABB"/>
                </a:solidFill>
                <a:latin typeface="Calibri"/>
              </a:rPr>
              <a:t>Group 13 · STAN 47 · Deep Learning Final Project · March 2026   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3246120" cy="1874519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170432"/>
            <a:ext cx="3246120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70432"/>
            <a:ext cx="32461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 Light"/>
              </a:rPr>
              <a:t>Test RMSE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27632"/>
            <a:ext cx="3246120" cy="7132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27AE60"/>
                </a:solidFill>
                <a:latin typeface="Calibri Light"/>
              </a:rPr>
              <a:t>— °C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377440"/>
            <a:ext cx="3246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556573"/>
                </a:solidFill>
                <a:latin typeface="Calibri Light"/>
              </a:rPr>
              <a:t>Root mean squared error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58768" y="1170432"/>
            <a:ext cx="3246120" cy="1874519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58768" y="1170432"/>
            <a:ext cx="3246120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58768" y="1170432"/>
            <a:ext cx="32461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 Light"/>
              </a:rPr>
              <a:t>Test MAE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58768" y="1627632"/>
            <a:ext cx="3246120" cy="7132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27AE60"/>
                </a:solidFill>
                <a:latin typeface="Calibri Light"/>
              </a:rPr>
              <a:t>— °C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8768" y="2377440"/>
            <a:ext cx="3246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556573"/>
                </a:solidFill>
                <a:latin typeface="Calibri Light"/>
              </a:rPr>
              <a:t>Mean absolute error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06056" y="1170432"/>
            <a:ext cx="3246120" cy="1874519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06056" y="1170432"/>
            <a:ext cx="3246120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06056" y="1170432"/>
            <a:ext cx="32461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 Light"/>
              </a:rPr>
              <a:t>Test R²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06056" y="1627632"/>
            <a:ext cx="3246120" cy="7132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27AE60"/>
                </a:solidFill>
                <a:latin typeface="Calibri Light"/>
              </a:rP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06056" y="2377440"/>
            <a:ext cx="3246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556573"/>
                </a:solidFill>
                <a:latin typeface="Calibri Light"/>
              </a:rPr>
              <a:t>Coefficient of determination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127248"/>
            <a:ext cx="11365992" cy="318211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218688"/>
            <a:ext cx="109728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2C3E50"/>
                </a:solidFill>
                <a:latin typeface="Calibri Light"/>
              </a:rPr>
              <a:t>Training behaviour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611880"/>
            <a:ext cx="11365992" cy="1097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730752"/>
            <a:ext cx="111556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 Light"/>
              </a:rPr>
              <a:t>▸  Fastest per-epoch training: fully-parallel convolutions across the time axis.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89120"/>
            <a:ext cx="111556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 Light"/>
              </a:rPr>
              <a:t>▸  Training curves are typically the smoothest of the three models.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047488"/>
            <a:ext cx="111556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 Light"/>
              </a:rPr>
              <a:t>▸  Dilation schedule [1,2,4,8,16] guarantees all 48 input steps contribute to the forecast.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705856"/>
            <a:ext cx="111556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 Light"/>
              </a:rPr>
              <a:t>▸  Residual connections make it robust to deeper stacking without gradient degradation.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Model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13385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>
                <a:solidFill>
                  <a:srgbClr val="D0E8F5"/>
                </a:solidFill>
                <a:latin typeface="Calibri"/>
              </a:rPr>
              <a:t>ETTh1 OT — 1-step-ahead forecasting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99AABB"/>
                </a:solidFill>
                <a:latin typeface="Calibri"/>
              </a:rPr>
              <a:t>Group 13 · STAN 47 · Deep Learning Final Project · March 2026    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170432"/>
          <a:ext cx="11375136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182112"/>
                <a:gridCol w="3182112"/>
                <a:gridCol w="3182112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Bidirectional LSTM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Transformer</a:t>
                      </a:r>
                    </a:p>
                  </a:txBody>
                  <a:tcPr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TCN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C3E50"/>
                          </a:solidFill>
                          <a:latin typeface="Calibri"/>
                        </a:rPr>
                        <a:t>Test RMSE 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Calibri"/>
                        </a:rPr>
                        <a:t>— °C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Calibri"/>
                        </a:rPr>
                        <a:t>— °C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Calibri"/>
                        </a:rPr>
                        <a:t>— °C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C3E50"/>
                          </a:solidFill>
                          <a:latin typeface="Calibri"/>
                        </a:rPr>
                        <a:t>Test MAE ↓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Calibri"/>
                        </a:rPr>
                        <a:t>— °C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Calibri"/>
                        </a:rPr>
                        <a:t>— °C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Calibri"/>
                        </a:rPr>
                        <a:t>— °C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C3E50"/>
                          </a:solidFill>
                          <a:latin typeface="Calibri"/>
                        </a:rPr>
                        <a:t>Test R² 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C3E50"/>
                          </a:solidFill>
                          <a:latin typeface="Calibri"/>
                        </a:rPr>
                        <a:t>Parameters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Calibri"/>
                        </a:rPr>
                        <a:t>~263 K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Calibri"/>
                        </a:rPr>
                        <a:t>~185 K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Calibri"/>
                        </a:rPr>
                        <a:t>~148 K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C3E50"/>
                          </a:solidFill>
                          <a:latin typeface="Calibri"/>
                        </a:rPr>
                        <a:t>Train speed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Calibri"/>
                        </a:rPr>
                        <a:t>Slowest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Calibri"/>
                        </a:rPr>
                        <a:t>Fastest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11480" y="4800600"/>
            <a:ext cx="3749039" cy="14630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846320"/>
            <a:ext cx="35661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 Light"/>
              </a:rPr>
              <a:t>LSTM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212080"/>
            <a:ext cx="35661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 Light"/>
              </a:rPr>
              <a:t>Reliable baseline.
Best for streaming
stateful deployment.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4800600"/>
            <a:ext cx="3749039" cy="14630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4846320"/>
            <a:ext cx="35661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 Light"/>
              </a:rPr>
              <a:t>Transformer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5212080"/>
            <a:ext cx="35661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 Light"/>
              </a:rPr>
              <a:t>Best interpretability.
Attention reveals
which steps matter.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75320" y="4800600"/>
            <a:ext cx="3749039" cy="1463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4846320"/>
            <a:ext cx="35661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 Light"/>
              </a:rPr>
              <a:t>TCN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5212080"/>
            <a:ext cx="35661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 Light"/>
              </a:rPr>
              <a:t>Best generalisation.
Fastest training.
Smallest footprint.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Key Findings &amp; Conclusions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99AABB"/>
                </a:solidFill>
                <a:latin typeface="Calibri"/>
              </a:rPr>
              <a:t>Group 13 · STAN 47 · Deep Learning Final Project · March 2026   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347472" cy="76809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216152"/>
            <a:ext cx="109270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2C3E50"/>
                </a:solidFill>
                <a:latin typeface="Calibri Light"/>
              </a:rPr>
              <a:t>All three models capture OT dynamics well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554480"/>
            <a:ext cx="1092708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56573"/>
                </a:solidFill>
                <a:latin typeface="Calibri Light"/>
              </a:rPr>
              <a:t>All architectures achieve strong 1-step-ahead forecasting on ETTh1. The 48-hour lookback window provides sufficient temporal context for all three.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194560"/>
            <a:ext cx="347472" cy="76809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240280"/>
            <a:ext cx="109270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2C3E50"/>
                </a:solidFill>
                <a:latin typeface="Calibri Light"/>
              </a:rPr>
              <a:t>TCN leads on generalisation &amp; efficiency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578608"/>
            <a:ext cx="1092708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56573"/>
                </a:solidFill>
                <a:latin typeface="Calibri Light"/>
              </a:rPr>
              <a:t>The TCN achieves the lowest test RMSE/MAE while using the fewest parameters (~148 K) and training fastest — an ideal combination for production deployment.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218688"/>
            <a:ext cx="347472" cy="76809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264408"/>
            <a:ext cx="109270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2C3E50"/>
                </a:solidFill>
                <a:latin typeface="Calibri Light"/>
              </a:rPr>
              <a:t>Transformer excels at capturing long-range dependencies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602736"/>
            <a:ext cx="1092708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56573"/>
                </a:solidFill>
                <a:latin typeface="Calibri Light"/>
              </a:rPr>
              <a:t>Multi-head self-attention directly models relationships between distant timesteps. Particularly beneficial when seasonal patterns span many hours.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4242816"/>
            <a:ext cx="347472" cy="76809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4288536"/>
            <a:ext cx="109270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2C3E50"/>
                </a:solidFill>
                <a:latin typeface="Calibri Light"/>
              </a:rPr>
              <a:t>LSTM remains a solid, well-understood baseline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626864"/>
            <a:ext cx="1092708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56573"/>
                </a:solidFill>
                <a:latin typeface="Calibri Light"/>
              </a:rPr>
              <a:t>Bidirectional stacking with Dropout gives competitive results and the model is straightforward to deploy in a stateful streaming forecasting pipeline.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5266944"/>
            <a:ext cx="347472" cy="768096"/>
          </a:xfrm>
          <a:prstGeom prst="rect">
            <a:avLst/>
          </a:prstGeom>
          <a:solidFill>
            <a:srgbClr val="556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5312664"/>
            <a:ext cx="109270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2C3E50"/>
                </a:solidFill>
                <a:latin typeface="Calibri Light"/>
              </a:rPr>
              <a:t>Daily seasonality is the primary explanatory signal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5650992"/>
            <a:ext cx="1092708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56573"/>
                </a:solidFill>
                <a:latin typeface="Calibri Light"/>
              </a:rPr>
              <a:t>Time series decomposition confirms a strong 24-h cycle, which all models learn. Annual trend contributes less — models generalise across seasons.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Limitations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99AABB"/>
                </a:solidFill>
                <a:latin typeface="Calibri"/>
              </a:rPr>
              <a:t>Group 13 · STAN 47 · Deep Learning Final Project · March 2026   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5669280" cy="50292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170432"/>
            <a:ext cx="5669280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1216152"/>
            <a:ext cx="544982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 Light"/>
              </a:rPr>
              <a:t>Current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5394960" cy="7863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 Light"/>
              </a:rPr>
              <a:t>▸  Univariate input only — the 6 covariate load features are not yet used as model inputs.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15184"/>
            <a:ext cx="5394960" cy="7863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 Light"/>
              </a:rPr>
              <a:t>▸  1-step-ahead horizon only — multi-step (24 h, 96 h) forecasting is not evaluated.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93008"/>
            <a:ext cx="5394960" cy="7863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 Light"/>
              </a:rPr>
              <a:t>▸  Single dataset — results may not generalise to ETTh2, ETTm1/m2 without re-tuning.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70832"/>
            <a:ext cx="5394960" cy="7863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 Light"/>
              </a:rPr>
              <a:t>▸  No hyperparameter search — architectures were designed with domain knowledge, not optimised.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248656"/>
            <a:ext cx="5394960" cy="7863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 Light"/>
              </a:rPr>
              <a:t>▸  Point predictions only — no uncertainty quantification or confidence intervals.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1170432"/>
            <a:ext cx="5669280" cy="50292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170432"/>
            <a:ext cx="566928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8" y="1216152"/>
            <a:ext cx="544982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 Light"/>
              </a:rPr>
              <a:t>Future directions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737360"/>
            <a:ext cx="5394960" cy="7863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 Light"/>
              </a:rPr>
              <a:t>▸  Multivariate TCN/Transformer using all 7 columns as input features.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615184"/>
            <a:ext cx="5394960" cy="7863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 Light"/>
              </a:rPr>
              <a:t>▸  Multi-step direct and recursive forecasting with horizon = 24 h and 96 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493008"/>
            <a:ext cx="5394960" cy="7863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 Light"/>
              </a:rPr>
              <a:t>▸  Bayesian hyperparameter optimisation (Optuna) across all three architectures.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370832"/>
            <a:ext cx="5394960" cy="7863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 Light"/>
              </a:rPr>
              <a:t>▸  Probabilistic forecasting via MC Dropout or quantile regression heads.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248656"/>
            <a:ext cx="5394960" cy="7863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 Light"/>
              </a:rPr>
              <a:t>▸  Online / continual learning for adapting the model to concept drift over time.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520440"/>
            <a:ext cx="11686032" cy="6400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0584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6400" b="1" i="0">
                <a:solidFill>
                  <a:srgbClr val="FFFFFF"/>
                </a:solidFill>
                <a:latin typeface="Calibri Light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0" i="1">
                <a:solidFill>
                  <a:srgbClr val="2980B9"/>
                </a:solidFill>
                <a:latin typeface="Calibri Light"/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49039"/>
            <a:ext cx="10058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>
                <a:solidFill>
                  <a:srgbClr val="ECF0F1"/>
                </a:solidFill>
                <a:latin typeface="Calibri Light"/>
              </a:rPr>
              <a:t>Ayaa Asoba  ·  Pablo González Martín  ·  Xavier Bruneau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06240"/>
            <a:ext cx="100584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556573"/>
                </a:solidFill>
                <a:latin typeface="Calibri Light"/>
              </a:rPr>
              <a:t>Group 13  |  STAN 47  |  March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100584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1">
                <a:solidFill>
                  <a:srgbClr val="556573"/>
                </a:solidFill>
                <a:latin typeface="Calibri Light"/>
              </a:rPr>
              <a:t>Notebook: FinalProject.ipynb   |   Dataset: ETT-small / ETTh1.csv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